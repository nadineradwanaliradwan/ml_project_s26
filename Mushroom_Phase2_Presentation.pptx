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B2B2B"/>
                </a:solidFill>
                <a:latin typeface="Arial"/>
              </a:defRPr>
            </a:pPr>
            <a:r>
              <a:rPr sz="1400" b="0" i="0" u="none" strike="noStrike">
                <a:solidFill>
                  <a:srgbClr val="2B2B2B"/>
                </a:solidFill>
                <a:latin typeface="Arial"/>
              </a:rPr>
              <a:t>Mean 5-Fold CV Accuracy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CV Accuracy (%)</c:v>
                </c:pt>
              </c:strCache>
            </c:strRef>
          </c:tx>
          <c:spPr>
            <a:solidFill>
              <a:srgbClr val="56638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2B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Decision Tree</c:v>
                  </c:pt>
                  <c:pt idx="2">
                    <c:v>KNN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99.4922</c:v>
                </c:pt>
                <c:pt idx="1">
                  <c:v>99.9538</c:v>
                </c:pt>
                <c:pt idx="2">
                  <c:v>99.9538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B2B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B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.2"/>
          <c:min val="99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4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828800"/>
            <a:ext cx="6400800" cy="6400800"/>
          </a:xfrm>
          <a:prstGeom prst="ellipse">
            <a:avLst/>
          </a:prstGeom>
          <a:solidFill>
            <a:srgbClr val="566386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914400"/>
            <a:ext cx="4572000" cy="4572000"/>
          </a:xfrm>
          <a:prstGeom prst="ellipse">
            <a:avLst/>
          </a:prstGeom>
          <a:solidFill>
            <a:srgbClr val="B1C3D9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011680" y="4389120"/>
            <a:ext cx="5029200" cy="5029200"/>
          </a:xfrm>
          <a:prstGeom prst="ellipse">
            <a:avLst/>
          </a:prstGeom>
          <a:solidFill>
            <a:srgbClr val="566386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B1C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CSE381 — INTRODUCTION TO MACHINE LEARNING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Mushroom Edibility Classification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1C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Model Comparison, Error Analysis, and Final Selection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4526280"/>
            <a:ext cx="2926080" cy="0"/>
          </a:xfrm>
          <a:prstGeom prst="line">
            <a:avLst/>
          </a:prstGeom>
          <a:noFill/>
          <a:ln w="19050">
            <a:solidFill>
              <a:srgbClr val="5663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709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1C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2026  |  Milestone 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51663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1C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Nadine Radwan  ·  Ahmed Mohamed Elsayed  ·  Hisham Mohamed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5532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1C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Mahmoud Khalil  ·  ENG Hala Shaheen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6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505895" y="320040"/>
            <a:ext cx="201168" cy="201168"/>
          </a:xfrm>
          <a:prstGeom prst="ellipse">
            <a:avLst/>
          </a:prstGeom>
          <a:solidFill>
            <a:srgbClr val="56638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Classifying Mushrooms as Edible or Poisonous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6309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Mushroom edibility is a binary classification problem — edible 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56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(e)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vs. poisonous 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(p)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where the two classes can share very similar physical characteristics, so reliable prediction requires combining multiple attributes rather than one feature.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6309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error types are not equal: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a poisonous mushroom as edible is a safety-critical false negative, while predicting an edible mushroom as poisonous is merely overcautious.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709160"/>
            <a:ext cx="6309360" cy="1417320"/>
          </a:xfrm>
          <a:prstGeom prst="roundRect">
            <a:avLst>
              <a:gd name="adj" fmla="val 5161"/>
            </a:avLst>
          </a:prstGeom>
          <a:solidFill>
            <a:srgbClr val="0E1434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84632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1C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odor &amp; spore-print-color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5257800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were removed — both are near-perfect predictors on their own, so dropping them forces the models to combine weaker signals instead of relying on one obvious feature.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223760" y="1691640"/>
            <a:ext cx="384048" cy="384048"/>
          </a:xfrm>
          <a:prstGeom prst="ellipse">
            <a:avLst/>
          </a:prstGeom>
          <a:solidFill>
            <a:srgbClr val="566386"/>
          </a:solidFill>
          <a:ln/>
        </p:spPr>
      </p:sp>
      <p:sp>
        <p:nvSpPr>
          <p:cNvPr id="12" name="Text 10"/>
          <p:cNvSpPr/>
          <p:nvPr/>
        </p:nvSpPr>
        <p:spPr>
          <a:xfrm>
            <a:off x="7223760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0" y="167335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Decision Tree and KNN classifiers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223760" y="2468880"/>
            <a:ext cx="384048" cy="384048"/>
          </a:xfrm>
          <a:prstGeom prst="ellipse">
            <a:avLst/>
          </a:prstGeom>
          <a:solidFill>
            <a:srgbClr val="566386"/>
          </a:solidFill>
          <a:ln/>
        </p:spPr>
      </p:sp>
      <p:sp>
        <p:nvSpPr>
          <p:cNvPr id="15" name="Text 13"/>
          <p:cNvSpPr/>
          <p:nvPr/>
        </p:nvSpPr>
        <p:spPr>
          <a:xfrm>
            <a:off x="7223760" y="24688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772400" y="245059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all models with 5-fold cross-validation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223760" y="3246120"/>
            <a:ext cx="384048" cy="384048"/>
          </a:xfrm>
          <a:prstGeom prst="ellipse">
            <a:avLst/>
          </a:prstGeom>
          <a:solidFill>
            <a:srgbClr val="566386"/>
          </a:solidFill>
          <a:ln/>
        </p:spPr>
      </p:sp>
      <p:sp>
        <p:nvSpPr>
          <p:cNvPr id="18" name="Text 16"/>
          <p:cNvSpPr/>
          <p:nvPr/>
        </p:nvSpPr>
        <p:spPr>
          <a:xfrm>
            <a:off x="7223760" y="3246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0" y="322783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performance using consistent test-set metrics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223760" y="4023360"/>
            <a:ext cx="384048" cy="384048"/>
          </a:xfrm>
          <a:prstGeom prst="ellipse">
            <a:avLst/>
          </a:prstGeom>
          <a:solidFill>
            <a:srgbClr val="566386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0" y="4023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72400" y="400507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classification errors — especially poisonous → edible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7223760" y="4800600"/>
            <a:ext cx="384048" cy="384048"/>
          </a:xfrm>
          <a:prstGeom prst="ellipse">
            <a:avLst/>
          </a:prstGeom>
          <a:solidFill>
            <a:srgbClr val="566386"/>
          </a:solidFill>
          <a:ln/>
        </p:spPr>
      </p:sp>
      <p:sp>
        <p:nvSpPr>
          <p:cNvPr id="24" name="Text 22"/>
          <p:cNvSpPr/>
          <p:nvPr/>
        </p:nvSpPr>
        <p:spPr>
          <a:xfrm>
            <a:off x="7223760" y="4800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772400" y="478231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most suitable final classifier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6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RECAP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505895" y="320040"/>
            <a:ext cx="201168" cy="201168"/>
          </a:xfrm>
          <a:prstGeom prst="ellipse">
            <a:avLst/>
          </a:prstGeom>
          <a:solidFill>
            <a:srgbClr val="56638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Dataset, Feature Reduction &amp; Preprocessing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331720" cy="1280160"/>
          </a:xfrm>
          <a:prstGeom prst="roundRect">
            <a:avLst>
              <a:gd name="adj" fmla="val 5714"/>
            </a:avLst>
          </a:prstGeom>
          <a:solidFill>
            <a:srgbClr val="F4F1EA"/>
          </a:solidFill>
          <a:ln w="12700">
            <a:solidFill>
              <a:srgbClr val="B1C3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64792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4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8,124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2450592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samples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17520" y="1691640"/>
            <a:ext cx="2331720" cy="1280160"/>
          </a:xfrm>
          <a:prstGeom prst="roundRect">
            <a:avLst>
              <a:gd name="adj" fmla="val 5714"/>
            </a:avLst>
          </a:prstGeom>
          <a:solidFill>
            <a:srgbClr val="F4F1EA"/>
          </a:solidFill>
          <a:ln w="12700">
            <a:solidFill>
              <a:srgbClr val="B1C3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0" y="1764792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4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108960" y="2450592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used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0" y="1691640"/>
            <a:ext cx="2331720" cy="1280160"/>
          </a:xfrm>
          <a:prstGeom prst="roundRect">
            <a:avLst>
              <a:gd name="adj" fmla="val 5714"/>
            </a:avLst>
          </a:prstGeom>
          <a:solidFill>
            <a:srgbClr val="F4F1EA"/>
          </a:solidFill>
          <a:ln w="12700">
            <a:solidFill>
              <a:srgbClr val="B1C3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0" y="1764792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4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2,480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577840" y="2450592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stalk-root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09560" y="1691640"/>
            <a:ext cx="3749040" cy="3429000"/>
          </a:xfrm>
          <a:prstGeom prst="roundRect">
            <a:avLst>
              <a:gd name="adj" fmla="val 2133"/>
            </a:avLst>
          </a:prstGeom>
          <a:solidFill>
            <a:srgbClr val="F4F1EA"/>
          </a:solidFill>
          <a:ln w="12700">
            <a:solidFill>
              <a:srgbClr val="B1C3D9"/>
            </a:solidFill>
            <a:prstDash val="solid"/>
          </a:ln>
        </p:spPr>
      </p:sp>
      <p:pic>
        <p:nvPicPr>
          <p:cNvPr id="16" name="Image 0" descr="/tmp/pptx_work/fig1_class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1828800"/>
            <a:ext cx="3383280" cy="225856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092440" y="416052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 — Balanced class distribution (4,208 edible / 3,916 poisonous)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48640" y="320040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48640" y="3657600"/>
            <a:ext cx="1691640" cy="1417320"/>
          </a:xfrm>
          <a:prstGeom prst="roundRect">
            <a:avLst>
              <a:gd name="adj" fmla="val 3871"/>
            </a:avLst>
          </a:prstGeom>
          <a:solidFill>
            <a:srgbClr val="0E1434"/>
          </a:solidFill>
          <a:ln/>
        </p:spPr>
      </p:sp>
      <p:sp>
        <p:nvSpPr>
          <p:cNvPr id="20" name="Text 17"/>
          <p:cNvSpPr/>
          <p:nvPr/>
        </p:nvSpPr>
        <p:spPr>
          <a:xfrm>
            <a:off x="658368" y="373075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1C3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58368" y="4059936"/>
            <a:ext cx="14721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odor &amp; spore-print-color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2221992" y="416052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2377440" y="3657600"/>
            <a:ext cx="1691640" cy="1417320"/>
          </a:xfrm>
          <a:prstGeom prst="roundRect">
            <a:avLst>
              <a:gd name="adj" fmla="val 3871"/>
            </a:avLst>
          </a:prstGeom>
          <a:solidFill>
            <a:srgbClr val="566386"/>
          </a:solidFill>
          <a:ln/>
        </p:spPr>
      </p:sp>
      <p:sp>
        <p:nvSpPr>
          <p:cNvPr id="24" name="Text 21"/>
          <p:cNvSpPr/>
          <p:nvPr/>
        </p:nvSpPr>
        <p:spPr>
          <a:xfrm>
            <a:off x="2487168" y="373075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1C3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2487168" y="4059936"/>
            <a:ext cx="14721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stratified split (seed=42)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050792" y="416052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4206240" y="3657600"/>
            <a:ext cx="1691640" cy="1417320"/>
          </a:xfrm>
          <a:prstGeom prst="roundRect">
            <a:avLst>
              <a:gd name="adj" fmla="val 3871"/>
            </a:avLst>
          </a:prstGeom>
          <a:solidFill>
            <a:srgbClr val="0E1434"/>
          </a:solidFill>
          <a:ln/>
        </p:spPr>
      </p:sp>
      <p:sp>
        <p:nvSpPr>
          <p:cNvPr id="28" name="Text 25"/>
          <p:cNvSpPr/>
          <p:nvPr/>
        </p:nvSpPr>
        <p:spPr>
          <a:xfrm>
            <a:off x="4315968" y="373075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1C3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4315968" y="4059936"/>
            <a:ext cx="14721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stalk-root with train mode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5879592" y="416052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035040" y="3657600"/>
            <a:ext cx="1691640" cy="1417320"/>
          </a:xfrm>
          <a:prstGeom prst="roundRect">
            <a:avLst>
              <a:gd name="adj" fmla="val 3871"/>
            </a:avLst>
          </a:prstGeom>
          <a:solidFill>
            <a:srgbClr val="566386"/>
          </a:solidFill>
          <a:ln/>
        </p:spPr>
      </p:sp>
      <p:sp>
        <p:nvSpPr>
          <p:cNvPr id="32" name="Text 29"/>
          <p:cNvSpPr/>
          <p:nvPr/>
        </p:nvSpPr>
        <p:spPr>
          <a:xfrm>
            <a:off x="6144768" y="373075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1C3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6144768" y="4059936"/>
            <a:ext cx="14721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Encode + align columns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6,499 training samples · 1,625 testing samples, both fully numeric with zero missing values.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6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RECAP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505895" y="320040"/>
            <a:ext cx="201168" cy="201168"/>
          </a:xfrm>
          <a:prstGeom prst="ellipse">
            <a:avLst/>
          </a:prstGeom>
          <a:solidFill>
            <a:srgbClr val="56638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Highlights &amp; Logistic Regression Baseline</a:t>
            </a:r>
            <a:endParaRPr lang="en-US" sz="2800" dirty="0"/>
          </a:p>
        </p:txBody>
      </p:sp>
      <p:pic>
        <p:nvPicPr>
          <p:cNvPr id="6" name="Image 0" descr="/tmp/pptx_work/fig2_gill_siz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3429000" cy="2148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767328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Gill size: broad → mostly edible; narrow → mostly poisonous</a:t>
            </a:r>
            <a:endParaRPr lang="en-US" sz="1050" dirty="0"/>
          </a:p>
        </p:txBody>
      </p:sp>
      <p:pic>
        <p:nvPicPr>
          <p:cNvPr id="8" name="Image 1" descr="/tmp/pptx_work/fig3_bruis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600200"/>
            <a:ext cx="3429000" cy="21488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14800" y="3767328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Bruising: bruised mushrooms are predominantly edible</a:t>
            </a:r>
            <a:endParaRPr lang="en-US" sz="1050" dirty="0"/>
          </a:p>
        </p:txBody>
      </p:sp>
      <p:pic>
        <p:nvPicPr>
          <p:cNvPr id="10" name="Image 2" descr="/tmp/pptx_work/fig4_habit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600200"/>
            <a:ext cx="3429000" cy="21488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80960" y="3767328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Habitat: woods/grasses skew edible; paths/urban skew poisonous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548640" y="4617720"/>
            <a:ext cx="11109960" cy="1508760"/>
          </a:xfrm>
          <a:prstGeom prst="roundRect">
            <a:avLst>
              <a:gd name="adj" fmla="val 4848"/>
            </a:avLst>
          </a:prstGeom>
          <a:solidFill>
            <a:srgbClr val="0E1434"/>
          </a:solidFill>
          <a:ln/>
        </p:spPr>
      </p:sp>
      <p:sp>
        <p:nvSpPr>
          <p:cNvPr id="13" name="Text 8"/>
          <p:cNvSpPr/>
          <p:nvPr/>
        </p:nvSpPr>
        <p:spPr>
          <a:xfrm>
            <a:off x="822960" y="4754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1C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Baseline (Phase 1)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822960" y="51663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99.49%</a:t>
            </a:r>
            <a:endParaRPr lang="en-US" sz="2600" dirty="0"/>
          </a:p>
        </p:txBody>
      </p:sp>
      <p:sp>
        <p:nvSpPr>
          <p:cNvPr id="15" name="Text 10"/>
          <p:cNvSpPr/>
          <p:nvPr/>
        </p:nvSpPr>
        <p:spPr>
          <a:xfrm>
            <a:off x="822960" y="5669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1C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CV Accuracy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4389120" y="51663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99.57%</a:t>
            </a:r>
            <a:endParaRPr lang="en-US" sz="2600" dirty="0"/>
          </a:p>
        </p:txBody>
      </p:sp>
      <p:sp>
        <p:nvSpPr>
          <p:cNvPr id="17" name="Text 12"/>
          <p:cNvSpPr/>
          <p:nvPr/>
        </p:nvSpPr>
        <p:spPr>
          <a:xfrm>
            <a:off x="4389120" y="5669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1C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7955280" y="51663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19" name="Text 14"/>
          <p:cNvSpPr/>
          <p:nvPr/>
        </p:nvSpPr>
        <p:spPr>
          <a:xfrm>
            <a:off x="7955280" y="5669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1C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Misclassified (all false negatives)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6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SETUP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505895" y="320040"/>
            <a:ext cx="201168" cy="201168"/>
          </a:xfrm>
          <a:prstGeom prst="ellipse">
            <a:avLst/>
          </a:prstGeom>
          <a:solidFill>
            <a:srgbClr val="56638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Three Classifier Families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training/testing split as Phase 1. All models evaluated with 5-fold cross-validation and identical test-set metrics for a fair comparison.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4F1EA"/>
          </a:solidFill>
          <a:ln w="12700">
            <a:solidFill>
              <a:srgbClr val="B1C3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057400"/>
            <a:ext cx="3611880" cy="960120"/>
          </a:xfrm>
          <a:prstGeom prst="roundRect">
            <a:avLst>
              <a:gd name="adj" fmla="val 7619"/>
            </a:avLst>
          </a:prstGeom>
          <a:solidFill>
            <a:srgbClr val="566386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606040"/>
            <a:ext cx="3611880" cy="411480"/>
          </a:xfrm>
          <a:prstGeom prst="rect">
            <a:avLst/>
          </a:prstGeom>
          <a:solidFill>
            <a:srgbClr val="566386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488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257860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1C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· BASELINE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3154680"/>
            <a:ext cx="3246120" cy="502920"/>
          </a:xfrm>
          <a:prstGeom prst="roundRect">
            <a:avLst>
              <a:gd name="adj" fmla="val 9091"/>
            </a:avLst>
          </a:prstGeom>
          <a:solidFill>
            <a:srgbClr val="2B2B2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1546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LogisticRegression(max_iter=1000)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3895344"/>
            <a:ext cx="91440" cy="91440"/>
          </a:xfrm>
          <a:prstGeom prst="ellipse">
            <a:avLst/>
          </a:prstGeom>
          <a:solidFill>
            <a:srgbClr val="566386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76732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interpretable baseline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4553712"/>
            <a:ext cx="91440" cy="91440"/>
          </a:xfrm>
          <a:prstGeom prst="ellipse">
            <a:avLst/>
          </a:prstGeom>
          <a:solidFill>
            <a:srgbClr val="566386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4425696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class probabilities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5212080"/>
            <a:ext cx="91440" cy="91440"/>
          </a:xfrm>
          <a:prstGeom prst="ellipse">
            <a:avLst/>
          </a:prstGeom>
          <a:solidFill>
            <a:srgbClr val="566386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5084064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a linear decision boundary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97680" y="205740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4F1EA"/>
          </a:solidFill>
          <a:ln w="12700">
            <a:solidFill>
              <a:srgbClr val="B1C3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97680" y="2057400"/>
            <a:ext cx="3611880" cy="960120"/>
          </a:xfrm>
          <a:prstGeom prst="roundRect">
            <a:avLst>
              <a:gd name="adj" fmla="val 7619"/>
            </a:avLst>
          </a:prstGeom>
          <a:solidFill>
            <a:srgbClr val="0E1434"/>
          </a:solidFill>
          <a:ln/>
        </p:spPr>
      </p:sp>
      <p:sp>
        <p:nvSpPr>
          <p:cNvPr id="22" name="Shape 20"/>
          <p:cNvSpPr/>
          <p:nvPr/>
        </p:nvSpPr>
        <p:spPr>
          <a:xfrm>
            <a:off x="4297680" y="2606040"/>
            <a:ext cx="3611880" cy="411480"/>
          </a:xfrm>
          <a:prstGeom prst="rect">
            <a:avLst/>
          </a:prstGeom>
          <a:solidFill>
            <a:srgbClr val="0E1434"/>
          </a:solidFill>
          <a:ln/>
        </p:spPr>
      </p:sp>
      <p:sp>
        <p:nvSpPr>
          <p:cNvPr id="23" name="Text 21"/>
          <p:cNvSpPr/>
          <p:nvPr/>
        </p:nvSpPr>
        <p:spPr>
          <a:xfrm>
            <a:off x="4480560" y="21488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480560" y="257860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1C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 · NONLINEAR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480560" y="3154680"/>
            <a:ext cx="3246120" cy="502920"/>
          </a:xfrm>
          <a:prstGeom prst="roundRect">
            <a:avLst>
              <a:gd name="adj" fmla="val 9091"/>
            </a:avLst>
          </a:prstGeom>
          <a:solidFill>
            <a:srgbClr val="2B2B2B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31546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DecisionTreeClassifier(random_state=42)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480560" y="3895344"/>
            <a:ext cx="91440" cy="91440"/>
          </a:xfrm>
          <a:prstGeom prst="ellipse">
            <a:avLst/>
          </a:prstGeom>
          <a:solidFill>
            <a:srgbClr val="0E1434"/>
          </a:solidFill>
          <a:ln/>
        </p:spPr>
      </p:sp>
      <p:sp>
        <p:nvSpPr>
          <p:cNvPr id="28" name="Text 26"/>
          <p:cNvSpPr/>
          <p:nvPr/>
        </p:nvSpPr>
        <p:spPr>
          <a:xfrm>
            <a:off x="4709160" y="376732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nonlinear decision rules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480560" y="4553712"/>
            <a:ext cx="91440" cy="91440"/>
          </a:xfrm>
          <a:prstGeom prst="ellipse">
            <a:avLst/>
          </a:prstGeom>
          <a:solidFill>
            <a:srgbClr val="0E1434"/>
          </a:solidFill>
          <a:ln/>
        </p:spPr>
      </p:sp>
      <p:sp>
        <p:nvSpPr>
          <p:cNvPr id="30" name="Text 28"/>
          <p:cNvSpPr/>
          <p:nvPr/>
        </p:nvSpPr>
        <p:spPr>
          <a:xfrm>
            <a:off x="4709160" y="4425696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feature interactions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480560" y="5212080"/>
            <a:ext cx="91440" cy="91440"/>
          </a:xfrm>
          <a:prstGeom prst="ellipse">
            <a:avLst/>
          </a:prstGeom>
          <a:solidFill>
            <a:srgbClr val="0E1434"/>
          </a:solidFill>
          <a:ln/>
        </p:spPr>
      </p:sp>
      <p:sp>
        <p:nvSpPr>
          <p:cNvPr id="32" name="Text 30"/>
          <p:cNvSpPr/>
          <p:nvPr/>
        </p:nvSpPr>
        <p:spPr>
          <a:xfrm>
            <a:off x="4709160" y="5084064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feature scaling required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046720" y="205740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4F1EA"/>
          </a:solidFill>
          <a:ln w="12700">
            <a:solidFill>
              <a:srgbClr val="B1C3D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46720" y="2057400"/>
            <a:ext cx="3611880" cy="960120"/>
          </a:xfrm>
          <a:prstGeom prst="roundRect">
            <a:avLst>
              <a:gd name="adj" fmla="val 7619"/>
            </a:avLst>
          </a:prstGeom>
          <a:solidFill>
            <a:srgbClr val="3A4568"/>
          </a:solidFill>
          <a:ln/>
        </p:spPr>
      </p:sp>
      <p:sp>
        <p:nvSpPr>
          <p:cNvPr id="35" name="Shape 33"/>
          <p:cNvSpPr/>
          <p:nvPr/>
        </p:nvSpPr>
        <p:spPr>
          <a:xfrm>
            <a:off x="8046720" y="2606040"/>
            <a:ext cx="3611880" cy="411480"/>
          </a:xfrm>
          <a:prstGeom prst="rect">
            <a:avLst/>
          </a:prstGeom>
          <a:solidFill>
            <a:srgbClr val="3A4568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0" y="21488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K-Nearest Neighbors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229600" y="257860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1C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INSTANCE-BASED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229600" y="3154680"/>
            <a:ext cx="3246120" cy="502920"/>
          </a:xfrm>
          <a:prstGeom prst="roundRect">
            <a:avLst>
              <a:gd name="adj" fmla="val 9091"/>
            </a:avLst>
          </a:prstGeom>
          <a:solidFill>
            <a:srgbClr val="2B2B2B"/>
          </a:solidFill>
          <a:ln/>
        </p:spPr>
      </p:sp>
      <p:sp>
        <p:nvSpPr>
          <p:cNvPr id="39" name="Text 37"/>
          <p:cNvSpPr/>
          <p:nvPr/>
        </p:nvSpPr>
        <p:spPr>
          <a:xfrm>
            <a:off x="8321040" y="31546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KNeighborsClassifier(n_neighbors=5)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229600" y="3895344"/>
            <a:ext cx="91440" cy="91440"/>
          </a:xfrm>
          <a:prstGeom prst="ellipse">
            <a:avLst/>
          </a:prstGeom>
          <a:solidFill>
            <a:srgbClr val="3A4568"/>
          </a:solidFill>
          <a:ln/>
        </p:spPr>
      </p:sp>
      <p:sp>
        <p:nvSpPr>
          <p:cNvPr id="41" name="Text 39"/>
          <p:cNvSpPr/>
          <p:nvPr/>
        </p:nvSpPr>
        <p:spPr>
          <a:xfrm>
            <a:off x="8458200" y="376732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via 5 nearest neighbors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229600" y="4553712"/>
            <a:ext cx="91440" cy="91440"/>
          </a:xfrm>
          <a:prstGeom prst="ellipse">
            <a:avLst/>
          </a:prstGeom>
          <a:solidFill>
            <a:srgbClr val="3A4568"/>
          </a:solidFill>
          <a:ln/>
        </p:spPr>
      </p:sp>
      <p:sp>
        <p:nvSpPr>
          <p:cNvPr id="43" name="Text 41"/>
          <p:cNvSpPr/>
          <p:nvPr/>
        </p:nvSpPr>
        <p:spPr>
          <a:xfrm>
            <a:off x="8458200" y="4425696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over 98 binary features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229600" y="5212080"/>
            <a:ext cx="91440" cy="91440"/>
          </a:xfrm>
          <a:prstGeom prst="ellipse">
            <a:avLst/>
          </a:prstGeom>
          <a:solidFill>
            <a:srgbClr val="3A4568"/>
          </a:solidFill>
          <a:ln/>
        </p:spPr>
      </p:sp>
      <p:sp>
        <p:nvSpPr>
          <p:cNvPr id="45" name="Text 43"/>
          <p:cNvSpPr/>
          <p:nvPr/>
        </p:nvSpPr>
        <p:spPr>
          <a:xfrm>
            <a:off x="8458200" y="5084064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explicit model is trained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6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505895" y="320040"/>
            <a:ext cx="201168" cy="201168"/>
          </a:xfrm>
          <a:prstGeom prst="ellipse">
            <a:avLst/>
          </a:prstGeom>
          <a:solidFill>
            <a:srgbClr val="56638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Cross-Validation Results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Five-fold cross-validation was performed on the training data only, before any test-set evaluation.</a:t>
            </a:r>
            <a:endParaRPr lang="en-US" sz="13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2103120"/>
          <a:ext cx="57607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6675120" y="21031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— Fold Detail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675120" y="2560320"/>
            <a:ext cx="4937760" cy="384048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0" y="25603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144000" y="25603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1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99.77%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675120" y="2944368"/>
            <a:ext cx="493776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0" y="294436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144000" y="294436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1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99.85%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675120" y="3328416"/>
            <a:ext cx="4937760" cy="384048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0" y="3328416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144000" y="3328416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1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99.38%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675120" y="3712464"/>
            <a:ext cx="493776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6858000" y="371246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144000" y="371246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1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99.15%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675120" y="4096512"/>
            <a:ext cx="4937760" cy="384048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22" name="Text 19"/>
          <p:cNvSpPr/>
          <p:nvPr/>
        </p:nvSpPr>
        <p:spPr>
          <a:xfrm>
            <a:off x="6858000" y="409651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5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144000" y="409651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1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99.31%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675120" y="4709160"/>
            <a:ext cx="4937760" cy="1371600"/>
          </a:xfrm>
          <a:prstGeom prst="roundRect">
            <a:avLst>
              <a:gd name="adj" fmla="val 5333"/>
            </a:avLst>
          </a:prstGeom>
          <a:solidFill>
            <a:srgbClr val="0E1434"/>
          </a:solidFill>
          <a:ln/>
        </p:spPr>
      </p:sp>
      <p:sp>
        <p:nvSpPr>
          <p:cNvPr id="25" name="Text 22"/>
          <p:cNvSpPr/>
          <p:nvPr/>
        </p:nvSpPr>
        <p:spPr>
          <a:xfrm>
            <a:off x="6903720" y="484632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and KNN achieved a near-identical mean CV accuracy of 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B1C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99.9538%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both outperforming the Logistic Regression baseline's 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B1C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99.4922%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6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505895" y="320040"/>
            <a:ext cx="201168" cy="201168"/>
          </a:xfrm>
          <a:prstGeom prst="ellipse">
            <a:avLst/>
          </a:prstGeom>
          <a:solidFill>
            <a:srgbClr val="56638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Test-Set Performance Comparison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classifiers evaluated on the same 1,625-sample held-out test set.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109960" cy="2103120"/>
        </p:xfrm>
        <a:graphic>
          <a:graphicData uri="http://schemas.openxmlformats.org/drawingml/2006/table">
            <a:tbl>
              <a:tblPr/>
              <a:tblGrid>
                <a:gridCol w="2519359"/>
                <a:gridCol w="1899844"/>
                <a:gridCol w="1899844"/>
                <a:gridCol w="1817243"/>
                <a:gridCol w="1652039"/>
                <a:gridCol w="1321631"/>
              </a:tblGrid>
              <a:tr h="5257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Poisonous 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Poisonous 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Poisonous F1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34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99.5692%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99.11%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99.5510%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99.9964%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E14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  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</a:tr>
            </a:tbl>
          </a:graphicData>
        </a:graphic>
      </p:graphicFrame>
      <p:pic>
        <p:nvPicPr>
          <p:cNvPr id="8" name="Image 0" descr="/tmp/pptx_work/roc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434840"/>
            <a:ext cx="3749040" cy="19659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526280" y="4434840"/>
            <a:ext cx="6766560" cy="1965960"/>
          </a:xfrm>
          <a:prstGeom prst="roundRect">
            <a:avLst>
              <a:gd name="adj" fmla="val 3721"/>
            </a:avLst>
          </a:prstGeom>
          <a:solidFill>
            <a:srgbClr val="F4F1EA"/>
          </a:solidFill>
          <a:ln w="12700">
            <a:solidFill>
              <a:srgbClr val="B1C3D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754880" y="461772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and KNN achieved perfect ROC-AUC (1.000) and eliminated all seven false negatives produced by the Logistic Regression baseline.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754880" y="5440680"/>
            <a:ext cx="6675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still reached a near-perfect ROC-AUC of 0.9999 despite its 7 test-set errors — a reminder that ROC-AUC reflects ranking across thresholds, not the confusion matrix at one fixed threshold.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6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7: ERROR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505895" y="320040"/>
            <a:ext cx="201168" cy="201168"/>
          </a:xfrm>
          <a:prstGeom prst="ellipse">
            <a:avLst/>
          </a:prstGeom>
          <a:solidFill>
            <a:srgbClr val="56638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Models Failed — and Why It Matters</a:t>
            </a:r>
            <a:endParaRPr lang="en-US" sz="2800" dirty="0"/>
          </a:p>
        </p:txBody>
      </p:sp>
      <p:pic>
        <p:nvPicPr>
          <p:cNvPr id="6" name="Image 0" descr="/tmp/pptx_work/cm_l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3931920" cy="3246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49377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— Logistic Regression Confusion Matrix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846320" y="169164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Misclassification Counts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2103120"/>
          <a:ext cx="6583680" cy="128016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Poisonous→Edible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3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2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E14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E14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846320" y="3611880"/>
            <a:ext cx="6583680" cy="1280160"/>
          </a:xfrm>
          <a:prstGeom prst="roundRect">
            <a:avLst>
              <a:gd name="adj" fmla="val 5714"/>
            </a:avLst>
          </a:prstGeom>
          <a:solidFill>
            <a:srgbClr val="B23A3A"/>
          </a:solidFill>
          <a:ln/>
        </p:spPr>
      </p:sp>
      <p:sp>
        <p:nvSpPr>
          <p:cNvPr id="11" name="Text 7"/>
          <p:cNvSpPr/>
          <p:nvPr/>
        </p:nvSpPr>
        <p:spPr>
          <a:xfrm>
            <a:off x="5074920" y="374904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Logistic Regression errors were poisonous → edible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074920" y="4206240"/>
            <a:ext cx="6126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safety-critical error type in this domain: a dangerous mushroom incorrectly labeled safe. False-negative rate = 7 / 783 = 0.89%.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846320" y="5074920"/>
            <a:ext cx="65836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E1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Regression's linear decision boundary placed these 7 poisonous samples on the edible side. Decision Tree and KNN classified them correctly because both can represent nonlinear relationships between the encoded features.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663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 SELECTION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1505895" y="320040"/>
            <a:ext cx="201168" cy="201168"/>
          </a:xfrm>
          <a:prstGeom prst="ellipse">
            <a:avLst/>
          </a:prstGeom>
          <a:solidFill>
            <a:srgbClr val="56638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 Feature Importance &amp; Final Selection</a:t>
            </a:r>
            <a:endParaRPr lang="en-US" sz="2600" dirty="0"/>
          </a:p>
        </p:txBody>
      </p:sp>
      <p:pic>
        <p:nvPicPr>
          <p:cNvPr id="6" name="Image 0" descr="/tmp/pptx_work/dt_feature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5943600" cy="3520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148072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9 — Top 10 encoded features by Decision Tree importance. stalk-surface-above-ring_k (~0.35) and gill-size_n (~0.30) dominate; the tree combines several weaker signals rather than relying on one feature.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720840" y="1600200"/>
            <a:ext cx="4937760" cy="2423160"/>
          </a:xfrm>
          <a:prstGeom prst="roundRect">
            <a:avLst>
              <a:gd name="adj" fmla="val 3019"/>
            </a:avLst>
          </a:prstGeom>
          <a:solidFill>
            <a:srgbClr val="0E1434"/>
          </a:solidFill>
          <a:ln/>
        </p:spPr>
      </p:sp>
      <p:sp>
        <p:nvSpPr>
          <p:cNvPr id="9" name="Text 6"/>
          <p:cNvSpPr/>
          <p:nvPr/>
        </p:nvSpPr>
        <p:spPr>
          <a:xfrm>
            <a:off x="6949440" y="17373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1C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FINAL MODEL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949440" y="201168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 Classifier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949440" y="265176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100% test accuracy · 100% poisonous F1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949440" y="2962656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Zero false negatives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949440" y="3273552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ROC-AUC = 1.0  ·  Mean CV = 99.95%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949440" y="3584448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Clearer feature-based decision rules than KNN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720840" y="422452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Decision Tree over KNN?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720840" y="4572000"/>
            <a:ext cx="49377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achieved identical perfect test results and nearly identical CV accuracy (99.9538% vs. 99.9538%). Decision Tree was preferred for its interpretable, feature-based decision rules and more efficient prediction — it does not need to compare each new sample against all stored training observations the way KNN does.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720840" y="5870448"/>
            <a:ext cx="4937760" cy="594360"/>
          </a:xfrm>
          <a:prstGeom prst="roundRect">
            <a:avLst>
              <a:gd name="adj" fmla="val 9231"/>
            </a:avLst>
          </a:prstGeom>
          <a:solidFill>
            <a:srgbClr val="F4F1EA"/>
          </a:solidFill>
          <a:ln w="12700">
            <a:solidFill>
              <a:srgbClr val="B1C3D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903720" y="5870448"/>
            <a:ext cx="4617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perfect test accuracy is dataset-specific, not a guarantee on unseen or real-world mushroom samples.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4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1C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9601200" y="-1371600"/>
            <a:ext cx="4572000" cy="4572000"/>
          </a:xfrm>
          <a:prstGeom prst="ellipse">
            <a:avLst/>
          </a:prstGeom>
          <a:solidFill>
            <a:srgbClr val="56638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Baseline to Final Model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B1C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and KNN both eliminated every safety-critical error the Logistic Regression baseline produced, achieving perfect test-set accuracy, F1, and ROC-AUC on the 1,625-sample held-out set.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B1C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Tree was selected as the final model for its combination of perfect test performance, interpretable feature-based rules, and efficient prediction — while KNN remains an equally strong, if less transparent, alternative.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4434840"/>
            <a:ext cx="6400800" cy="1600200"/>
          </a:xfrm>
          <a:prstGeom prst="roundRect">
            <a:avLst>
              <a:gd name="adj" fmla="val 4571"/>
            </a:avLst>
          </a:prstGeom>
          <a:solidFill>
            <a:srgbClr val="1B2347"/>
          </a:solidFill>
          <a:ln w="12700">
            <a:solidFill>
              <a:srgbClr val="5663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55371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1C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4892040"/>
            <a:ext cx="5943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D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Tree/KNN were not hyperparameter-tuned or pruned; preprocessing was not embedded in a scikit-learn Pipeline across CV folds; no independent external dataset was tested. Results are academic and must not guide real-world foraging decisions.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406640" y="182880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1C3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7406640" y="248716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test accuracy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06640" y="315468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1C3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7406640" y="381304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 (DT &amp; KNN)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406640" y="448056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1C3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7406640" y="513892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(DT &amp; KNN)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06640" y="580644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B1C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was used only for research, clarification, and report organization — every figure, table, and metric traces to executed notebook code.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2026-08-15T11:18:32Z</dcterms:created>
  <dcterms:modified xsi:type="dcterms:W3CDTF">2026-08-15T11:18:32Z</dcterms:modified>
</cp:coreProperties>
</file>